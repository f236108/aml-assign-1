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DE0863-C32E-42A7-8786-A600336BD828}">
  <a:tblStyle styleId="{02DE0863-C32E-42A7-8786-A600336BD82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1536192" y="4507992"/>
            <a:ext cx="9125712" cy="70408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914400" y="1716723"/>
            <a:ext cx="10363200" cy="238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A picture containing text, gear, metalware&#10;&#10;Description automatically generated" id="23" name="Google Shape;2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1152" y="22561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icon&#10;&#10;Description automatically generated" id="24" name="Google Shape;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25615"/>
            <a:ext cx="1280160" cy="100349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0" y="185416"/>
            <a:ext cx="12192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K" sz="2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NATIONAL UNIVERSITY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of Computer &amp; Emerging Sciences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Chiniot-Faisalabad Campus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0" y="6153912"/>
            <a:ext cx="12192000" cy="7040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Electrical Engineering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0" y="365127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1353800" y="365126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0" y="365126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1353800" y="365125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45.png"/><Relationship Id="rId5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PK"/>
              <a:t>Applied Machine Learning</a:t>
            </a:r>
            <a:endParaRPr/>
          </a:p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PK"/>
              <a:t>Lecture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Outline</a:t>
            </a:r>
            <a:endParaRPr/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Supervised Learning: Notations and Definitions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Linear Regression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LMS Algorithm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Learning Rate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Pitfalls of Gradient Descent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Main Challenges of Machine Learning</a:t>
            </a:r>
            <a:endParaRPr/>
          </a:p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Insufficient Quantity of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Nonrepresentative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Poor-Quality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Irrelevant Features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Imbalanced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Overfitting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Underfitting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3800"/>
              <a:buFont typeface="Calibri"/>
              <a:buNone/>
            </a:pPr>
            <a:r>
              <a:rPr lang="en-PK" sz="3800"/>
              <a:t>Supervised Learning: Notations and Definitions (1/3)</a:t>
            </a:r>
            <a:endParaRPr sz="3800"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Suppose we have a dataset giving the living areas and prices of 47 houses from Portland, Oregon.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Given data like this, how can we learn to predict the prices of other houses in Portland, as a function of the size of their living areas?</a:t>
            </a:r>
            <a:endParaRPr/>
          </a:p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936" y="2966460"/>
            <a:ext cx="35814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5845" y="2429162"/>
            <a:ext cx="5251219" cy="3105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3800"/>
              <a:buFont typeface="Calibri"/>
              <a:buNone/>
            </a:pPr>
            <a:r>
              <a:rPr lang="en-PK" sz="3800"/>
              <a:t>Supervised Learning: Notations and Definitions (2/3)</a:t>
            </a:r>
            <a:endParaRPr sz="3800"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1" l="-928" r="0" t="-25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37" name="Google Shape;137;p1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38" name="Google Shape;138;p1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3800"/>
              <a:buFont typeface="Calibri"/>
              <a:buNone/>
            </a:pPr>
            <a:r>
              <a:rPr lang="en-PK" sz="3800"/>
              <a:t>Supervised Learning: Notations and Definitions (3/3)</a:t>
            </a:r>
            <a:endParaRPr sz="3800"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838200" y="1956815"/>
            <a:ext cx="7114309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00" r="0" t="-32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46" name="Google Shape;146;p1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47" name="Google Shape;147;p1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9774" y="2410691"/>
            <a:ext cx="3274026" cy="3183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Linear Regression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0" t="-2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56" name="Google Shape;156;p1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57" name="Google Shape;157;p1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2807525"/>
            <a:ext cx="42862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Linear Regression</a:t>
            </a:r>
            <a:endParaRPr/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12" r="-232" t="-266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66" name="Google Shape;166;p2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67" name="Google Shape;167;p2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Linear Regression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-870" t="-2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75" name="Google Shape;175;p2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76" name="Google Shape;176;p2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LMS (Least Mean Square) Algorithm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81" l="-928" r="-1159" t="-35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84" name="Google Shape;184;p2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85" name="Google Shape;185;p2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LMS (Least Mean Square) Algorithm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838200" y="1956815"/>
            <a:ext cx="7174347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82" l="-1531" r="-1446" t="-30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93" name="Google Shape;193;p2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94" name="Google Shape;194;p2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95" name="Google Shape;195;p2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4">
            <a:alphaModFix/>
          </a:blip>
          <a:srcRect b="72281" l="0" r="29695" t="0"/>
          <a:stretch/>
        </p:blipFill>
        <p:spPr>
          <a:xfrm>
            <a:off x="8153400" y="3429000"/>
            <a:ext cx="3421929" cy="699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19780" r="0" t="27719"/>
          <a:stretch/>
        </p:blipFill>
        <p:spPr>
          <a:xfrm>
            <a:off x="8153400" y="4341235"/>
            <a:ext cx="3904528" cy="182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LMS (Least Mean Square) Algorithm</a:t>
            </a:r>
            <a:endParaRPr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838200" y="1956816"/>
            <a:ext cx="10515600" cy="3520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magnitude of the update is proportional to the error term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If we are encountering a training example on which our prediction nearly matches the actual value of y</a:t>
            </a:r>
            <a:r>
              <a:rPr baseline="30000" lang="en-PK"/>
              <a:t>(i)</a:t>
            </a:r>
            <a:r>
              <a:rPr lang="en-PK"/>
              <a:t> , then we find that there is little need to change the parameters.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In contrast, a larger change to the parameters will be made if our prediction h</a:t>
            </a:r>
            <a:r>
              <a:rPr baseline="-25000" lang="en-PK"/>
              <a:t>θ</a:t>
            </a:r>
            <a:r>
              <a:rPr lang="en-PK"/>
              <a:t>(x</a:t>
            </a:r>
            <a:r>
              <a:rPr baseline="30000" lang="en-PK"/>
              <a:t>(i)</a:t>
            </a:r>
            <a:r>
              <a:rPr lang="en-PK"/>
              <a:t>) has a large error (i.e., if it is very far from y</a:t>
            </a:r>
            <a:r>
              <a:rPr baseline="30000" lang="en-PK"/>
              <a:t>(i)</a:t>
            </a:r>
            <a:r>
              <a:rPr lang="en-PK"/>
              <a:t>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derivation is made for one training sample. For entire training set: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By grouping the updates of the coordinates into an update of the vector θ, we can rewrite the above update in a slightly more succinct way: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05" name="Google Shape;205;p2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06" name="Google Shape;206;p2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5686" y="3690077"/>
            <a:ext cx="4794914" cy="104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8637" y="5414948"/>
            <a:ext cx="35147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Gradient Descent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-1507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215" name="Google Shape;215;p2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16" name="Google Shape;216;p2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Gradient Descent</a:t>
            </a:r>
            <a:endParaRPr/>
          </a:p>
        </p:txBody>
      </p:sp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838199" y="1956815"/>
            <a:ext cx="7215909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ellipses shown here are the contours of a quadratic function.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Also shown is the trajectory taken by gradient descent, which was initialized at (48,30).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x’s in the figure (joined by straight lines) mark the successive values of θ that gradient descent went through.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When we run batch gradient descent to fit θ on our previous dataset, to learn to predict housing price as a function of living area, we obtain: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θ</a:t>
            </a:r>
            <a:r>
              <a:rPr baseline="-25000" lang="en-PK"/>
              <a:t>0</a:t>
            </a:r>
            <a:r>
              <a:rPr lang="en-PK"/>
              <a:t> = 71.27, θ</a:t>
            </a:r>
            <a:r>
              <a:rPr baseline="-25000" lang="en-PK"/>
              <a:t>1</a:t>
            </a:r>
            <a:r>
              <a:rPr lang="en-PK"/>
              <a:t> = 0.1345.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If we plot h</a:t>
            </a:r>
            <a:r>
              <a:rPr baseline="-25000" lang="en-PK"/>
              <a:t>θ</a:t>
            </a:r>
            <a:r>
              <a:rPr lang="en-PK"/>
              <a:t>(x) as a function of x (area), along with the training data, we obtain the following figure:</a:t>
            </a:r>
            <a:endParaRPr/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26" name="Google Shape;226;p2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5741" y="1769237"/>
            <a:ext cx="2912918" cy="231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8240" y="4143359"/>
            <a:ext cx="2912919" cy="231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Problems with Gradient Descent</a:t>
            </a:r>
            <a:endParaRPr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Local Minima and Saddle Points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algorithm can get trapped in a small valley (local minimum) or a flat area (saddle point) where the slope is zero, failing to find the true lowest point (global minimum).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Improper Learning Rate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If the step size is too large, the algorithm can overshoot the minimum and diverge; if it is too small, training becomes extremely slow.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Horizontal Oscillation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Vanilla gradient descent can zigzag back and forth instead of moving straight toward the minimum, especially in high-dimensional spaces.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Vanishing and Exploding Gradients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In deep neural networks, gradients can shrink close to zero (stopping learning in early layers) or grow excessively large (causing unstable updates).</a:t>
            </a:r>
            <a:endParaRPr/>
          </a:p>
        </p:txBody>
      </p:sp>
      <p:sp>
        <p:nvSpPr>
          <p:cNvPr id="235" name="Google Shape;235;p2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36" name="Google Shape;236;p2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37" name="Google Shape;237;p2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Problems with Gradient Descent</a:t>
            </a:r>
            <a:endParaRPr/>
          </a:p>
        </p:txBody>
      </p:sp>
      <p:sp>
        <p:nvSpPr>
          <p:cNvPr id="243" name="Google Shape;243;p2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4" name="Google Shape;244;p2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45" name="Google Shape;245;p2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46" name="Google Shape;246;p2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a) Schematic of local minima and saddle point in a onedimension ..." id="247" name="Google Shape;247;p28"/>
          <p:cNvPicPr preferRelativeResize="0"/>
          <p:nvPr/>
        </p:nvPicPr>
        <p:blipFill rotWithShape="1">
          <a:blip r:embed="rId3">
            <a:alphaModFix/>
          </a:blip>
          <a:srcRect b="0" l="0" r="62598" t="16806"/>
          <a:stretch/>
        </p:blipFill>
        <p:spPr>
          <a:xfrm>
            <a:off x="2311440" y="1878455"/>
            <a:ext cx="2568191" cy="1921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fferent Variants of Gradient Descent - GeeksforGeeks" id="248" name="Google Shape;248;p28"/>
          <p:cNvPicPr preferRelativeResize="0"/>
          <p:nvPr/>
        </p:nvPicPr>
        <p:blipFill rotWithShape="1">
          <a:blip r:embed="rId4">
            <a:alphaModFix/>
          </a:blip>
          <a:srcRect b="8102" l="19836" r="16941" t="19318"/>
          <a:stretch/>
        </p:blipFill>
        <p:spPr>
          <a:xfrm>
            <a:off x="7341678" y="1956815"/>
            <a:ext cx="3540687" cy="2029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lain the Vanishing and Exploding Gradient Problems in Deep Learning -  AIML.com" id="249" name="Google Shape;24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0887" y="4051557"/>
            <a:ext cx="2989537" cy="2336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) Schematic of local minima and saddle point in a onedimension ..." id="250" name="Google Shape;250;p28"/>
          <p:cNvPicPr preferRelativeResize="0"/>
          <p:nvPr/>
        </p:nvPicPr>
        <p:blipFill rotWithShape="1">
          <a:blip r:embed="rId3">
            <a:alphaModFix/>
          </a:blip>
          <a:srcRect b="0" l="45977" r="0" t="0"/>
          <a:stretch/>
        </p:blipFill>
        <p:spPr>
          <a:xfrm>
            <a:off x="1963305" y="3920745"/>
            <a:ext cx="3962191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PK"/>
              <a:t>Applied Machine Learning</a:t>
            </a:r>
            <a:endParaRPr/>
          </a:p>
        </p:txBody>
      </p:sp>
      <p:sp>
        <p:nvSpPr>
          <p:cNvPr id="256" name="Google Shape;256;p29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PK"/>
              <a:t>Lecture 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Outline</a:t>
            </a:r>
            <a:endParaRPr/>
          </a:p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Pitfalls of 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Stochastic 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Mini-Batch 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The Normal Equation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Probabilistic interpretation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Locally weighted linear regression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3" name="Google Shape;263;p3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64" name="Google Shape;264;p3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65" name="Google Shape;265;p3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Gradient Descent</a:t>
            </a:r>
            <a:endParaRPr/>
          </a:p>
        </p:txBody>
      </p:sp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272" name="Google Shape;272;p3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73" name="Google Shape;273;p3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74" name="Google Shape;274;p3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75" name="Google Shape;27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5686" y="4059532"/>
            <a:ext cx="4794914" cy="104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8675" y="5518785"/>
            <a:ext cx="35147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Problems with Gradient Descent</a:t>
            </a:r>
            <a:endParaRPr/>
          </a:p>
        </p:txBody>
      </p:sp>
      <p:sp>
        <p:nvSpPr>
          <p:cNvPr id="282" name="Google Shape;282;p3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3" name="Google Shape;283;p3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84" name="Google Shape;284;p3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85" name="Google Shape;285;p3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a) Schematic of local minima and saddle point in a onedimension ..." id="286" name="Google Shape;286;p32"/>
          <p:cNvPicPr preferRelativeResize="0"/>
          <p:nvPr/>
        </p:nvPicPr>
        <p:blipFill rotWithShape="1">
          <a:blip r:embed="rId3">
            <a:alphaModFix/>
          </a:blip>
          <a:srcRect b="0" l="0" r="62598" t="16806"/>
          <a:stretch/>
        </p:blipFill>
        <p:spPr>
          <a:xfrm>
            <a:off x="2311440" y="1878455"/>
            <a:ext cx="2568191" cy="1921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fferent Variants of Gradient Descent - GeeksforGeeks" id="287" name="Google Shape;287;p32"/>
          <p:cNvPicPr preferRelativeResize="0"/>
          <p:nvPr/>
        </p:nvPicPr>
        <p:blipFill rotWithShape="1">
          <a:blip r:embed="rId4">
            <a:alphaModFix/>
          </a:blip>
          <a:srcRect b="8102" l="19836" r="16941" t="19318"/>
          <a:stretch/>
        </p:blipFill>
        <p:spPr>
          <a:xfrm>
            <a:off x="7341678" y="1956815"/>
            <a:ext cx="3540687" cy="2029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lain the Vanishing and Exploding Gradient Problems in Deep Learning -  AIML.com" id="288" name="Google Shape;28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0887" y="4051557"/>
            <a:ext cx="2989537" cy="2336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) Schematic of local minima and saddle point in a onedimension ..." id="289" name="Google Shape;289;p32"/>
          <p:cNvPicPr preferRelativeResize="0"/>
          <p:nvPr/>
        </p:nvPicPr>
        <p:blipFill rotWithShape="1">
          <a:blip r:embed="rId3">
            <a:alphaModFix/>
          </a:blip>
          <a:srcRect b="0" l="45977" r="0" t="0"/>
          <a:stretch/>
        </p:blipFill>
        <p:spPr>
          <a:xfrm>
            <a:off x="1963305" y="3920745"/>
            <a:ext cx="3962191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Stochastic Gradient Descent (1/2)</a:t>
            </a:r>
            <a:endParaRPr/>
          </a:p>
        </p:txBody>
      </p:sp>
      <p:sp>
        <p:nvSpPr>
          <p:cNvPr id="295" name="Google Shape;295;p3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-174" t="-35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296" name="Google Shape;296;p3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97" name="Google Shape;297;p3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98" name="Google Shape;298;p3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99" name="Google Shape;29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847409"/>
            <a:ext cx="4865976" cy="1273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Stochastic Gradient Descent (2/2)</a:t>
            </a:r>
            <a:endParaRPr/>
          </a:p>
        </p:txBody>
      </p:sp>
      <p:sp>
        <p:nvSpPr>
          <p:cNvPr id="305" name="Google Shape;305;p34"/>
          <p:cNvSpPr txBox="1"/>
          <p:nvPr>
            <p:ph idx="1" type="body"/>
          </p:nvPr>
        </p:nvSpPr>
        <p:spPr>
          <a:xfrm>
            <a:off x="838200" y="1956815"/>
            <a:ext cx="6726382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Unlike batch gradient descent, stochastic gradient descent can start making progress right away and continues to make progress with each example it looks at.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Often, stochastic gradient descent gets θ “close” to the minimum much faster than batch gradient descent.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Particularly when the training set is large, stochastic gradient descent is often preferred over batch gradient descent.</a:t>
            </a:r>
            <a:endParaRPr/>
          </a:p>
        </p:txBody>
      </p:sp>
      <p:sp>
        <p:nvSpPr>
          <p:cNvPr id="306" name="Google Shape;306;p3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07" name="Google Shape;307;p3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08" name="Google Shape;308;p3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stochastic" id="309" name="Google Shape;309;p34"/>
          <p:cNvPicPr preferRelativeResize="0"/>
          <p:nvPr/>
        </p:nvPicPr>
        <p:blipFill rotWithShape="1">
          <a:blip r:embed="rId3">
            <a:alphaModFix/>
          </a:blip>
          <a:srcRect b="5964" l="9906" r="53967" t="15383"/>
          <a:stretch/>
        </p:blipFill>
        <p:spPr>
          <a:xfrm>
            <a:off x="7689501" y="2158908"/>
            <a:ext cx="3664299" cy="3598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Mini-batch Gradient Descent</a:t>
            </a:r>
            <a:endParaRPr/>
          </a:p>
        </p:txBody>
      </p:sp>
      <p:sp>
        <p:nvSpPr>
          <p:cNvPr id="315" name="Google Shape;315;p35"/>
          <p:cNvSpPr txBox="1"/>
          <p:nvPr>
            <p:ph idx="1" type="body"/>
          </p:nvPr>
        </p:nvSpPr>
        <p:spPr>
          <a:xfrm>
            <a:off x="838200" y="1956815"/>
            <a:ext cx="7040418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At each step, instead of computing the gradients based on the full training set (as in Batch GD) or based on just one instance (as in Stochastic GD), Mini-batch GD computes the gradients on small random sets of instances called minibatches.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main advantage of Mini-batch GD over Stochastic GD is that you can get a performance boost from hardware optimization of matrix operations, especially when using GPUs.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algorithm’s progress in parameter space is less erratic than with SGD, especially with fairly large mini-batches.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As a result, Mini-batch GD will end up walking around a bit closer to the minimum than SGD.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But, on the other hand, it may be harder for it to escape from local minima</a:t>
            </a:r>
            <a:endParaRPr/>
          </a:p>
        </p:txBody>
      </p:sp>
      <p:sp>
        <p:nvSpPr>
          <p:cNvPr id="316" name="Google Shape;316;p3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17" name="Google Shape;317;p3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18" name="Google Shape;318;p3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19" name="Google Shape;319;p35"/>
          <p:cNvPicPr preferRelativeResize="0"/>
          <p:nvPr/>
        </p:nvPicPr>
        <p:blipFill rotWithShape="1">
          <a:blip r:embed="rId3">
            <a:alphaModFix/>
          </a:blip>
          <a:srcRect b="12091" l="7287" r="8826" t="1797"/>
          <a:stretch/>
        </p:blipFill>
        <p:spPr>
          <a:xfrm>
            <a:off x="7947407" y="2220684"/>
            <a:ext cx="3557955" cy="3526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Comparison of BGD, SGD, and MBGD</a:t>
            </a:r>
            <a:endParaRPr/>
          </a:p>
        </p:txBody>
      </p:sp>
      <p:sp>
        <p:nvSpPr>
          <p:cNvPr id="325" name="Google Shape;325;p36"/>
          <p:cNvSpPr txBox="1"/>
          <p:nvPr>
            <p:ph idx="1" type="body"/>
          </p:nvPr>
        </p:nvSpPr>
        <p:spPr>
          <a:xfrm>
            <a:off x="838199" y="1956815"/>
            <a:ext cx="4574309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For a linear regression problem, all end up near the minimum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Batch GD’s path actually stops at the minimum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While both Stochastic GD and Mini-batch GD continue to walk around.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However, don’t forget that Batch GD takes a lot of time to take each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Stochastic GD and Mini-batch GD would also reach the minimum if you used a good learning schedule.</a:t>
            </a:r>
            <a:endParaRPr/>
          </a:p>
        </p:txBody>
      </p:sp>
      <p:sp>
        <p:nvSpPr>
          <p:cNvPr id="326" name="Google Shape;326;p3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27" name="Google Shape;327;p3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28" name="Google Shape;328;p3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29" name="Google Shape;3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3672" y="2279895"/>
            <a:ext cx="6073856" cy="332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Alternate Way of Minimizing J</a:t>
            </a:r>
            <a:endParaRPr/>
          </a:p>
        </p:txBody>
      </p:sp>
      <p:sp>
        <p:nvSpPr>
          <p:cNvPr id="335" name="Google Shape;335;p3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Gradient descent gives one way of minimizing J.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Let’s discuss a second way of doing so, this time performing the minimization explicitly and without resorting to an iterative algorithm.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In this method, we will minimize J by explicitly taking its derivatives with respect to the θ</a:t>
            </a:r>
            <a:r>
              <a:rPr baseline="-25000" lang="en-PK"/>
              <a:t>j</a:t>
            </a:r>
            <a:r>
              <a:rPr lang="en-PK"/>
              <a:t>’s, and setting them to zero.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To enable us to do this without having to write reams of algebra and pages full of matrices of derivatives.</a:t>
            </a:r>
            <a:endParaRPr/>
          </a:p>
        </p:txBody>
      </p:sp>
      <p:sp>
        <p:nvSpPr>
          <p:cNvPr id="336" name="Google Shape;336;p3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37" name="Google Shape;337;p3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38" name="Google Shape;338;p3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Matrix Derivatives (1/2)</a:t>
            </a:r>
            <a:endParaRPr/>
          </a:p>
        </p:txBody>
      </p:sp>
      <p:sp>
        <p:nvSpPr>
          <p:cNvPr id="344" name="Google Shape;344;p3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1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45" name="Google Shape;345;p3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46" name="Google Shape;346;p3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2698" y="3016683"/>
            <a:ext cx="4570702" cy="160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Matrix Derivatives (2/2)</a:t>
            </a:r>
            <a:endParaRPr/>
          </a:p>
        </p:txBody>
      </p:sp>
      <p:sp>
        <p:nvSpPr>
          <p:cNvPr id="354" name="Google Shape;354;p3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55" name="Google Shape;355;p3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56" name="Google Shape;356;p3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57" name="Google Shape;357;p3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58" name="Google Shape;35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3814041"/>
            <a:ext cx="3736894" cy="1025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Least Squares with Matrices (1/3)</a:t>
            </a:r>
            <a:endParaRPr/>
          </a:p>
        </p:txBody>
      </p:sp>
      <p:sp>
        <p:nvSpPr>
          <p:cNvPr id="364" name="Google Shape;364;p40"/>
          <p:cNvSpPr txBox="1"/>
          <p:nvPr>
            <p:ph idx="1" type="body"/>
          </p:nvPr>
        </p:nvSpPr>
        <p:spPr>
          <a:xfrm>
            <a:off x="838200" y="1956815"/>
            <a:ext cx="7945582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81" l="-1381" r="-1919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65" name="Google Shape;365;p4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66" name="Google Shape;366;p4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67" name="Google Shape;367;p4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68" name="Google Shape;36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0600" y="2995612"/>
            <a:ext cx="26098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7812" y="4745133"/>
            <a:ext cx="149542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Least Squares with Matrices (2/3)</a:t>
            </a:r>
            <a:endParaRPr/>
          </a:p>
        </p:txBody>
      </p:sp>
      <p:sp>
        <p:nvSpPr>
          <p:cNvPr id="375" name="Google Shape;375;p4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76" name="Google Shape;376;p4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77" name="Google Shape;377;p4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78" name="Google Shape;378;p4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79" name="Google Shape;3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2659" y="2649537"/>
            <a:ext cx="40481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8194" y="2692399"/>
            <a:ext cx="2743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1"/>
          <p:cNvPicPr preferRelativeResize="0"/>
          <p:nvPr/>
        </p:nvPicPr>
        <p:blipFill rotWithShape="1">
          <a:blip r:embed="rId6">
            <a:alphaModFix/>
          </a:blip>
          <a:srcRect b="0" l="0" r="54339" t="0"/>
          <a:stretch/>
        </p:blipFill>
        <p:spPr>
          <a:xfrm>
            <a:off x="3044394" y="4793961"/>
            <a:ext cx="233117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1"/>
          <p:cNvPicPr preferRelativeResize="0"/>
          <p:nvPr/>
        </p:nvPicPr>
        <p:blipFill rotWithShape="1">
          <a:blip r:embed="rId6">
            <a:alphaModFix/>
          </a:blip>
          <a:srcRect b="0" l="46269" r="0" t="0"/>
          <a:stretch/>
        </p:blipFill>
        <p:spPr>
          <a:xfrm>
            <a:off x="5406594" y="4793961"/>
            <a:ext cx="27432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49794" y="5003511"/>
            <a:ext cx="100965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5575" y="2776537"/>
            <a:ext cx="5915025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2"/>
          <p:cNvPicPr preferRelativeResize="0"/>
          <p:nvPr/>
        </p:nvPicPr>
        <p:blipFill rotWithShape="1">
          <a:blip r:embed="rId3">
            <a:alphaModFix/>
          </a:blip>
          <a:srcRect b="12052" l="0" r="0" t="0"/>
          <a:stretch/>
        </p:blipFill>
        <p:spPr>
          <a:xfrm>
            <a:off x="2695575" y="2776538"/>
            <a:ext cx="5915025" cy="275604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Least Squares with Matrices</a:t>
            </a:r>
            <a:endParaRPr/>
          </a:p>
        </p:txBody>
      </p:sp>
      <p:sp>
        <p:nvSpPr>
          <p:cNvPr id="391" name="Google Shape;391;p4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Finally, to minimize J, let’s find its derivatives with respect to θ. Hence,</a:t>
            </a:r>
            <a:endParaRPr/>
          </a:p>
        </p:txBody>
      </p:sp>
      <p:sp>
        <p:nvSpPr>
          <p:cNvPr id="392" name="Google Shape;392;p4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93" name="Google Shape;393;p4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94" name="Google Shape;394;p4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95" name="Google Shape;395;p42"/>
          <p:cNvPicPr preferRelativeResize="0"/>
          <p:nvPr/>
        </p:nvPicPr>
        <p:blipFill rotWithShape="1">
          <a:blip r:embed="rId3">
            <a:alphaModFix/>
          </a:blip>
          <a:srcRect b="81155" l="0" r="0" t="0"/>
          <a:stretch/>
        </p:blipFill>
        <p:spPr>
          <a:xfrm>
            <a:off x="2695575" y="2776538"/>
            <a:ext cx="59150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6105" y="3929166"/>
            <a:ext cx="11811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7547" y="5010437"/>
            <a:ext cx="3314700" cy="59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42"/>
          <p:cNvCxnSpPr/>
          <p:nvPr/>
        </p:nvCxnSpPr>
        <p:spPr>
          <a:xfrm>
            <a:off x="6202218" y="5283013"/>
            <a:ext cx="1636857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id="399" name="Google Shape;399;p42"/>
          <p:cNvPicPr preferRelativeResize="0"/>
          <p:nvPr/>
        </p:nvPicPr>
        <p:blipFill rotWithShape="1">
          <a:blip r:embed="rId3">
            <a:alphaModFix/>
          </a:blip>
          <a:srcRect b="65204" l="0" r="0" t="0"/>
          <a:stretch/>
        </p:blipFill>
        <p:spPr>
          <a:xfrm>
            <a:off x="2695575" y="2776538"/>
            <a:ext cx="5915025" cy="109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2"/>
          <p:cNvPicPr preferRelativeResize="0"/>
          <p:nvPr/>
        </p:nvPicPr>
        <p:blipFill rotWithShape="1">
          <a:blip r:embed="rId3">
            <a:alphaModFix/>
          </a:blip>
          <a:srcRect b="46832" l="0" r="0" t="0"/>
          <a:stretch/>
        </p:blipFill>
        <p:spPr>
          <a:xfrm>
            <a:off x="2695575" y="2776538"/>
            <a:ext cx="5915025" cy="1666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2"/>
          <p:cNvPicPr preferRelativeResize="0"/>
          <p:nvPr/>
        </p:nvPicPr>
        <p:blipFill rotWithShape="1">
          <a:blip r:embed="rId3">
            <a:alphaModFix/>
          </a:blip>
          <a:srcRect b="28714" l="0" r="0" t="0"/>
          <a:stretch/>
        </p:blipFill>
        <p:spPr>
          <a:xfrm>
            <a:off x="2695575" y="2776538"/>
            <a:ext cx="5915025" cy="223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" name="Google Shape;402;p42"/>
          <p:cNvCxnSpPr/>
          <p:nvPr/>
        </p:nvCxnSpPr>
        <p:spPr>
          <a:xfrm>
            <a:off x="8035636" y="4133086"/>
            <a:ext cx="1034473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The Normal Equation</a:t>
            </a:r>
            <a:endParaRPr/>
          </a:p>
        </p:txBody>
      </p:sp>
      <p:sp>
        <p:nvSpPr>
          <p:cNvPr id="408" name="Google Shape;408;p4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-58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409" name="Google Shape;409;p4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10" name="Google Shape;410;p4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11" name="Google Shape;411;p4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Probabilistic Interpretation (1/3)</a:t>
            </a:r>
            <a:endParaRPr/>
          </a:p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When faced with a regression problem, why might linear regression, and specifically why might the least-squares cost function J, be a reasonable choice?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Why might we use a linear model?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We could start with a simple assumption: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As the covered area and number of bedrooms increase, the price increases.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How do we decide which line is "best"?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Calculate the prediction error for every example, square each error, and add them together.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The model tries to find the parameters that make this number as small as possible.</a:t>
            </a:r>
            <a:endParaRPr/>
          </a:p>
        </p:txBody>
      </p:sp>
      <p:sp>
        <p:nvSpPr>
          <p:cNvPr id="418" name="Google Shape;418;p4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19" name="Google Shape;419;p4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20" name="Google Shape;420;p4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Probabilistic Interpretation (2/3)</a:t>
            </a:r>
            <a:endParaRPr/>
          </a:p>
        </p:txBody>
      </p:sp>
      <p:sp>
        <p:nvSpPr>
          <p:cNvPr id="426" name="Google Shape;426;p4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Why not simply add the errors?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Because positive and negative errors can cancel each other.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Why does a large error matter more?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The large error gets a </a:t>
            </a:r>
            <a:r>
              <a:rPr b="1" lang="en-PK"/>
              <a:t>much larger penalty</a:t>
            </a:r>
            <a:r>
              <a:rPr lang="en-PK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This is often desirable because we don't want a model to make some extremely bad predictions.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27" name="Google Shape;427;p4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28" name="Google Shape;428;p4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29" name="Google Shape;429;p4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Probabilistic Interpretation (3/3)</a:t>
            </a:r>
            <a:endParaRPr/>
          </a:p>
        </p:txBody>
      </p:sp>
      <p:sp>
        <p:nvSpPr>
          <p:cNvPr id="435" name="Google Shape;435;p4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81" l="-812" r="0" t="-266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436" name="Google Shape;436;p4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37" name="Google Shape;437;p4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38" name="Google Shape;438;p4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Locally Weighted Linear Regression (1/2)</a:t>
            </a:r>
            <a:endParaRPr/>
          </a:p>
        </p:txBody>
      </p:sp>
      <p:sp>
        <p:nvSpPr>
          <p:cNvPr id="444" name="Google Shape;444;p47"/>
          <p:cNvSpPr txBox="1"/>
          <p:nvPr>
            <p:ph idx="1" type="body"/>
          </p:nvPr>
        </p:nvSpPr>
        <p:spPr>
          <a:xfrm>
            <a:off x="838200" y="1956816"/>
            <a:ext cx="10515600" cy="1820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Locally Weighted Linear Regression is a modified version of ordinary linear regression.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When predicting the output for a particular point, give more importance to training examples that are close to that point and less importance to examples that are far away.</a:t>
            </a:r>
            <a:endParaRPr/>
          </a:p>
        </p:txBody>
      </p:sp>
      <p:sp>
        <p:nvSpPr>
          <p:cNvPr id="445" name="Google Shape;445;p4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46" name="Google Shape;446;p4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47" name="Google Shape;447;p4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Linear-regression-on-non-linear-dataset" id="448" name="Google Shape;44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164" y="3800892"/>
            <a:ext cx="3384861" cy="2641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cally-Weighted-linear-regression" id="449" name="Google Shape;44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1400" y="3777674"/>
            <a:ext cx="3384000" cy="2657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Locally Weighted Linear Regression (2/2)</a:t>
            </a:r>
            <a:endParaRPr/>
          </a:p>
        </p:txBody>
      </p:sp>
      <p:sp>
        <p:nvSpPr>
          <p:cNvPr id="455" name="Google Shape;455;p4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456" name="Google Shape;456;p4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57" name="Google Shape;457;p4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58" name="Google Shape;458;p4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graphicFrame>
        <p:nvGraphicFramePr>
          <p:cNvPr id="459" name="Google Shape;459;p48"/>
          <p:cNvGraphicFramePr/>
          <p:nvPr/>
        </p:nvGraphicFramePr>
        <p:xfrm>
          <a:off x="6389255" y="353199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{02DE0863-C32E-42A7-8786-A600336BD828}</a:tableStyleId>
              </a:tblPr>
              <a:tblGrid>
                <a:gridCol w="1811100"/>
                <a:gridCol w="1811100"/>
                <a:gridCol w="1811100"/>
              </a:tblGrid>
              <a:tr h="30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 u="none" cap="none" strike="noStrike"/>
                        <a:t>Training point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Importance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small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high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small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high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Moderate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Medium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Large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Low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large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Almost none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  <p:pic>
        <p:nvPicPr>
          <p:cNvPr id="460" name="Google Shape;46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046" y="4627130"/>
            <a:ext cx="28194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8"/>
          <p:cNvSpPr txBox="1"/>
          <p:nvPr/>
        </p:nvSpPr>
        <p:spPr>
          <a:xfrm>
            <a:off x="1117600" y="5486400"/>
            <a:ext cx="45812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Tau (τ) is called bandwidth or smoothing parameter. It controls how local the model is.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